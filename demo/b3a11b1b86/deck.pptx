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Should we open a cloud kitchen for healthy office lunches in Mumbai?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Verdict: leaning favourable (uncertain) — 64% favourable (range 42%–82%)</a:t>
            </a:r>
          </a:p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Geography: Mumbai</a:t>
            </a:r>
          </a:p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Depth: quick</a:t>
            </a:r>
          </a:p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Q: I’ll assume you aim to launch a cloud kitchen serving healthy office lunches in Mumbai within the next 6 mont…  →  A 3-month pilot for 2 office parks; success = 300 daily paid orders.</a:t>
            </a:r>
          </a:p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Q: I'll assume you don't currently have a dedicated kitchen space and plan to lease a facility for the pilot – i…  →  A 3-month pilot for 2 office parks; success = 300 daily paid orders.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HOW THE RESEARCH 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Process, sources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6 research tasks across specialists: competitor, customer, market, regulation</a:t>
            </a:r>
          </a:p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51 sources registered, 42 useful documents from 31 domains</a:t>
            </a:r>
          </a:p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2481 claims extracted; 2403 independent clusters after removing copies</a:t>
            </a:r>
          </a:p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28 evidence labels weighed against 4 hypotheses</a:t>
            </a:r>
          </a:p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8 claims challenged and re-researched; 3 court hearings</a:t>
            </a:r>
          </a:p>
          <a:p>
            <a:pPr>
              <a:spcAft>
                <a:spcPts val="800"/>
              </a:spcAft>
              <a:defRPr sz="1500">
                <a:solidFill>
                  <a:srgbClr val="E8ECE6"/>
                </a:solidFill>
              </a:defRPr>
            </a:pPr>
            <a:r>
              <a:t>•  LLM tokens used: 76647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HYPOTHESES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What had to be true — and how likely it is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6FD39A"/>
                </a:solidFill>
              </a:defRPr>
            </a:pPr>
            <a:r>
              <a:t>•  h1  77%  —  There is sufficient demand for healthy lunch options among office workers in the targeted Mumbai office parks.  (▲12 / ▼0)</a:t>
            </a:r>
          </a:p>
          <a:p>
            <a:pPr>
              <a:spcAft>
                <a:spcPts val="800"/>
              </a:spcAft>
              <a:defRPr sz="1500">
                <a:solidFill>
                  <a:srgbClr val="F2B86B"/>
                </a:solidFill>
              </a:defRPr>
            </a:pPr>
            <a:r>
              <a:t>•  h2  50%  —  Corporate clients are willing to commit to a minimum order volume of 150 meals per day per office park.  (▲3 / ▼0)</a:t>
            </a:r>
          </a:p>
          <a:p>
            <a:pPr>
              <a:spcAft>
                <a:spcPts val="800"/>
              </a:spcAft>
              <a:defRPr sz="1500">
                <a:solidFill>
                  <a:srgbClr val="6FD39A"/>
                </a:solidFill>
              </a:defRPr>
            </a:pPr>
            <a:r>
              <a:t>•  h3  67%  —  A cloud kitchen can produce and deliver a healthy lunch within 30 minutes of order placement at a cost below INR 120 pe…  (▲11 / ▼1)</a:t>
            </a:r>
          </a:p>
          <a:p>
            <a:pPr>
              <a:spcAft>
                <a:spcPts val="800"/>
              </a:spcAft>
              <a:defRPr sz="1500">
                <a:solidFill>
                  <a:srgbClr val="F2B86B"/>
                </a:solidFill>
              </a:defRPr>
            </a:pPr>
            <a:r>
              <a:t>•  h4  58%  —  Regulatory approvals for operating a cloud kitchen in Mumbai (food license, fire safety, waste disposal) can be obtaine…  (▲0 / ▼1)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STRONGEST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Verbatim claims the verdict leans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“Regulatory Compliance Complexity and Municipal Licensing for Cloud Kitchen Operations: Regulations require cloud kitchens to obta…” — imarcgroup.com (opposes h4)</a:t>
            </a:r>
          </a:p>
          <a:p>
            <a:pPr>
              <a:spcAft>
                <a:spcPts val="800"/>
              </a:spcAft>
              <a:defRPr sz="1300">
                <a:solidFill>
                  <a:srgbClr val="6FD39A"/>
                </a:solidFill>
              </a:defRPr>
            </a:pPr>
            <a:r>
              <a:t>•  “NodBox is a corporate lunch delivery service in Mumbai offering daily healthy meal boxes for office teams.” — nodmeals.com (supports h1)</a:t>
            </a:r>
          </a:p>
          <a:p>
            <a:pPr>
              <a:spcAft>
                <a:spcPts val="800"/>
              </a:spcAft>
              <a:defRPr sz="1300">
                <a:solidFill>
                  <a:srgbClr val="6FD39A"/>
                </a:solidFill>
              </a:defRPr>
            </a:pPr>
            <a:r>
              <a:t>•  “Cloud kitchen operators retain 70-75% of gross order value after delivery commission (25-30%), generating contribution margins of…” — imarcgroup.com (supports h3)</a:t>
            </a:r>
          </a:p>
          <a:p>
            <a:pPr>
              <a:spcAft>
                <a:spcPts val="800"/>
              </a:spcAft>
              <a:defRPr sz="1300">
                <a:solidFill>
                  <a:srgbClr val="6FD39A"/>
                </a:solidFill>
              </a:defRPr>
            </a:pPr>
            <a:r>
              <a:t>•  “Office employees, business professionals, and corporate teams looking for convenient, timely, and nutritious weekday lunches can …” — foodiaq.com (supports h1)</a:t>
            </a:r>
          </a:p>
          <a:p>
            <a:pPr>
              <a:spcAft>
                <a:spcPts val="800"/>
              </a:spcAft>
              <a:defRPr sz="1300">
                <a:solidFill>
                  <a:srgbClr val="6FD39A"/>
                </a:solidFill>
              </a:defRPr>
            </a:pPr>
            <a:r>
              <a:t>•  “Strategic Focus: Expanding its multi-brand cloud kitchen ecosystem through AI-driven operations, rapid delivery models, hybrid di…” — imarcgroup.com (supports h3)</a:t>
            </a:r>
          </a:p>
          <a:p>
            <a:pPr>
              <a:spcAft>
                <a:spcPts val="800"/>
              </a:spcAft>
              <a:defRPr sz="1300">
                <a:solidFill>
                  <a:srgbClr val="6FD39A"/>
                </a:solidFill>
              </a:defRPr>
            </a:pPr>
            <a:r>
              <a:t>•  “Cloud kitchens are uniquely positioned to meet this demand, offering a diverse range of nutritious and customizable meal options,…” — kingsresearch.com (supports h1)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CHALLENGE &amp;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What survived independent re-research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INSUFFICIENT_EVIDENCE: Regulatory Compliance Complexity and Municipal Licensing for Cloud Kitchen Operations: Regulations … — nothing in 3 follow-up page(s) bears on the claim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PARTIALLY_SUPPORTED: Cloud kitchen operators retain 70-75% of gross order value after delivery commission (25-30%), gene… — related evidence found but not decisive (support 1%, contradiction 49…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PARTIALLY_SUPPORTED: Food Inflation and Ingredient Cost Volatility Compressing Already-Thin Margins: India's food commod… — related evidence found but not decisive (support 1%, contradiction 64…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INSUFFICIENT_EVIDENCE: Strategic Focus: Expanding its multi-brand cloud kitchen ecosystem through AI-driven operations, ra… — nothing in 3 follow-up page(s) bears on the claim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INSUFFICIENT_EVIDENCE: Cloud kitchens are uniquely positioned to meet this demand, offering a diverse range of nutritious … — nothing in 3 follow-up page(s) bears on the claim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INSUFFICIENT_EVIDENCE: NodBox is a corporate lunch delivery service in Mumbai offering daily healthy meal boxes for office… — no follow-up sentence was about the same subject</a:t>
            </a:r>
          </a:p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CONTRADICTED: What to Order for a Healthy Office Lunch in Bandra: Plant-Based Wraps That Travel Well — independent source contradicts the claim (100%)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INSUFFICIENT_EVIDENCE: Delivery partner availability during peak hours, delivery time consistency, and delivery packaging … — nothing in 3 follow-up page(s) bears on the claim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Conflict: market size of Billion: [81940000000.0, 286300000000.0]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Conflict: market size of Billion: [203700000000.0, 45430000000.0]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Conflict: market size of Billion: [72700000000.0, 44900000000.0]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EVIDENCE COURT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Per-claim hearings and rulings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OVERRULED: Food Inflation and Ingredient Cost Volatility Compressing Already-Thin Margins: India's f… — The exhibits fail to provide quantitative proof that food inflation compresses margins fo…</a:t>
            </a:r>
          </a:p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OVERRULED: What to Order for a Healthy Office Lunch in Bandra: Plant-Based Wraps That Travel Well — The exhibits provide no data supporting the plant‑based wrap recommendation and directly …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QUALIFIED: Cloud kitchen operators retain 70-75% of gross order value after delivery commission (25-… — Exhibits verify the commission range but contradict the retention percentage and provide 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RED-TEAM AUTOPSY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Survival: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CRITICAL · Methodology Auditor: No primary data on corporate client demand</a:t>
            </a:r>
          </a:p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HIGH · Evidence Auditor: 12 struck and 10 partial of 36 cited statements</a:t>
            </a:r>
          </a:p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HIGH · Logic Auditor: Market size cited as proof of revenue potential</a:t>
            </a:r>
          </a:p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HIGH · Methodology Auditor: Regulatory timeline not quantified</a:t>
            </a:r>
          </a:p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HIGH · Completeness Auditor: Ingredient price volatility impact not fully quantified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MEDIUM · Temporal Auditor: 6 cited claim(s) are stale for their kind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MEDIUM · Source Quality Auditor: 36% of cited evidence comes from one domain (imarcgroup.com)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Per customer per month, from cited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8ECE6"/>
                </a:solidFill>
              </a:defRPr>
            </a:pPr>
            <a:r>
              <a:t>•  price: 800 INR (range 750–850) — evidence [c19]</a:t>
            </a:r>
          </a:p>
          <a:p>
            <a:pPr>
              <a:spcAft>
                <a:spcPts val="800"/>
              </a:spcAft>
              <a:defRPr sz="1300">
                <a:solidFill>
                  <a:srgbClr val="E8ECE6"/>
                </a:solidFill>
              </a:defRPr>
            </a:pPr>
            <a:r>
              <a:t>•  variable cost: 240 INR (range 180–300) — assumption</a:t>
            </a:r>
          </a:p>
          <a:p>
            <a:pPr>
              <a:spcAft>
                <a:spcPts val="800"/>
              </a:spcAft>
              <a:defRPr sz="1300">
                <a:solidFill>
                  <a:srgbClr val="E8ECE6"/>
                </a:solidFill>
              </a:defRPr>
            </a:pPr>
            <a:r>
              <a:t>•  cac: 2000 INR (range 1500–3000) — assumption</a:t>
            </a:r>
          </a:p>
          <a:p>
            <a:pPr>
              <a:spcAft>
                <a:spcPts val="800"/>
              </a:spcAft>
              <a:defRPr sz="1300">
                <a:solidFill>
                  <a:srgbClr val="E8ECE6"/>
                </a:solidFill>
              </a:defRPr>
            </a:pPr>
            <a:r>
              <a:t>•  churn: 0.07 INR (range 0.05–0.1) — assumption</a:t>
            </a:r>
          </a:p>
          <a:p>
            <a:pPr>
              <a:spcAft>
                <a:spcPts val="800"/>
              </a:spcAft>
              <a:defRPr sz="1300">
                <a:solidFill>
                  <a:srgbClr val="E8ECE6"/>
                </a:solidFill>
              </a:defRPr>
            </a:pPr>
            <a:r>
              <a:t>•  fixed cost: 80000 INR (range 60000–120000) — assumption</a:t>
            </a:r>
          </a:p>
          <a:p>
            <a:pPr>
              <a:spcAft>
                <a:spcPts val="800"/>
              </a:spcAft>
              <a:defRPr sz="1300">
                <a:solidFill>
                  <a:srgbClr val="E8ECE6"/>
                </a:solidFill>
              </a:defRPr>
            </a:pPr>
            <a:r>
              <a:t>•  Margin 560 · LTV 8000 · LTV/CAC 4.0 · payback 3.571 months</a:t>
            </a:r>
          </a:p>
          <a:p>
            <a:pPr>
              <a:spcAft>
                <a:spcPts val="800"/>
              </a:spcAft>
              <a:defRPr sz="1300">
                <a:solidFill>
                  <a:srgbClr val="E8ECE6"/>
                </a:solidFill>
              </a:defRPr>
            </a:pPr>
            <a:r>
              <a:t>•  Monte Carlo (2000 trials): P(margin&gt;0) 100% · P(LTV/CAC&gt;3) 79% · P(payback&lt;12m) 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VERDICT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leaning favourable (uncertain) — 64%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FD39A"/>
                </a:solidFill>
              </a:defRPr>
            </a:pPr>
            <a:r>
              <a:t>•  Do: Start the pilot in two office parks targeting corporate meal subscriptions, leveraging the reported demand for office lunch deliv…</a:t>
            </a:r>
          </a:p>
          <a:p>
            <a:pPr>
              <a:spcAft>
                <a:spcPts val="800"/>
              </a:spcAft>
              <a:defRPr sz="1300">
                <a:solidFill>
                  <a:srgbClr val="6FD39A"/>
                </a:solidFill>
              </a:defRPr>
            </a:pPr>
            <a:r>
              <a:t>•  Do: Implement cloud kitchen management software and POS integration to coordinate orders and keep delivery times under 30 minutes.</a:t>
            </a:r>
          </a:p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Don't: Do not assume regulatory approvals can be secured within four weeks, as licensing complexity is documented.</a:t>
            </a:r>
          </a:p>
          <a:p>
            <a:pPr>
              <a:spcAft>
                <a:spcPts val="800"/>
              </a:spcAft>
              <a:defRPr sz="1300">
                <a:solidFill>
                  <a:srgbClr val="FF8A7A"/>
                </a:solidFill>
              </a:defRPr>
            </a:pPr>
            <a:r>
              <a:t>•  Don't: Do not set meal price expectations below INR 120 without accounting for ingredient price volatility and thin contribution margins.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Crux: Office workers in Mumbai value nutrition and are willing to pay a premium for healthy meals. (verdict without it 59%)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Crux: Our team can secure a 200‑sq‑ft kitchen space within the pilot budget. (verdict without it 61%)</a:t>
            </a:r>
          </a:p>
          <a:p>
            <a:pPr>
              <a:spcAft>
                <a:spcPts val="800"/>
              </a:spcAft>
              <a:defRPr sz="1300">
                <a:solidFill>
                  <a:srgbClr val="F2B86B"/>
                </a:solidFill>
              </a:defRPr>
            </a:pPr>
            <a:r>
              <a:t>•  Crux: Delivery logistics can be handled by a third‑party partner with average delivery time under 20 minutes within the park. (verdict without it 61%)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F36B"/>
                </a:solidFill>
              </a:defRPr>
            </a:pPr>
            <a: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8ECE6"/>
                </a:solidFill>
              </a:defRPr>
            </a:pPr>
            <a:r>
              <a:t>Every cited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65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AA59E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E8ECE6"/>
                </a:solidFill>
              </a:defRPr>
            </a:pPr>
            <a:r>
              <a:t>•  imarcgroup.com — India Cloud Kitchen Market Size, Growth, Forecast 2026-34 (Market research / analyst report)</a:t>
            </a:r>
          </a:p>
          <a:p>
            <a:pPr>
              <a:spcAft>
                <a:spcPts val="800"/>
              </a:spcAft>
              <a:defRPr sz="1100">
                <a:solidFill>
                  <a:srgbClr val="E8ECE6"/>
                </a:solidFill>
              </a:defRPr>
            </a:pPr>
            <a:r>
              <a:t>•  precedenceresearch.com — Cloud Kitchen Market Companies, Size &amp; Trends 2026-2035 (Blog / article)</a:t>
            </a:r>
          </a:p>
          <a:p>
            <a:pPr>
              <a:spcAft>
                <a:spcPts val="800"/>
              </a:spcAft>
              <a:defRPr sz="1100">
                <a:solidFill>
                  <a:srgbClr val="E8ECE6"/>
                </a:solidFill>
              </a:defRPr>
            </a:pPr>
            <a:r>
              <a:t>•  foodiaq.com — Daily Food Delivery in Mumbai vs Cooking at Home: Cost Comparison - FoodiaQ (Blog / article)</a:t>
            </a:r>
          </a:p>
          <a:p>
            <a:pPr>
              <a:spcAft>
                <a:spcPts val="800"/>
              </a:spcAft>
              <a:defRPr sz="1100">
                <a:solidFill>
                  <a:srgbClr val="E8ECE6"/>
                </a:solidFill>
              </a:defRPr>
            </a:pPr>
            <a:r>
              <a:t>•  nodmeals.com — office lunch delivery in Mumbai – Why Companies Trust NodBox (Blog / article)</a:t>
            </a:r>
          </a:p>
          <a:p>
            <a:pPr>
              <a:spcAft>
                <a:spcPts val="800"/>
              </a:spcAft>
              <a:defRPr sz="1100">
                <a:solidFill>
                  <a:srgbClr val="E8ECE6"/>
                </a:solidFill>
              </a:defRPr>
            </a:pPr>
            <a:r>
              <a:t>•  grandviewresearch.com — Cloud Kitchen Market Size And Share Report, 2026-2033 (Market research / analyst report)</a:t>
            </a:r>
          </a:p>
          <a:p>
            <a:pPr>
              <a:spcAft>
                <a:spcPts val="800"/>
              </a:spcAft>
              <a:defRPr sz="1100">
                <a:solidFill>
                  <a:srgbClr val="E8ECE6"/>
                </a:solidFill>
              </a:defRPr>
            </a:pPr>
            <a:r>
              <a:t>•  prophecymarketinsights.com — Cloud Kitchen Market Size, Share, Growth, Forecast, [2024-2034] (Blog / article)</a:t>
            </a:r>
          </a:p>
          <a:p>
            <a:pPr>
              <a:spcAft>
                <a:spcPts val="800"/>
              </a:spcAft>
              <a:defRPr sz="1100">
                <a:solidFill>
                  <a:srgbClr val="E8ECE6"/>
                </a:solidFill>
              </a:defRPr>
            </a:pPr>
            <a:r>
              <a:t>•  futuremarketinsights.com — Explore the Global Cloud Kitchen Market — analysis of key trends, regional grow… (Blog / article)</a:t>
            </a:r>
          </a:p>
          <a:p>
            <a:pPr>
              <a:spcAft>
                <a:spcPts val="800"/>
              </a:spcAft>
              <a:defRPr sz="1100">
                <a:solidFill>
                  <a:srgbClr val="E8ECE6"/>
                </a:solidFill>
              </a:defRPr>
            </a:pPr>
            <a:r>
              <a:t>•  alliedmarketresearch.com — Cloud Kitchen Market Size, Share | Growth Analysis Report 2035 (Blog / article)</a:t>
            </a:r>
          </a:p>
          <a:p>
            <a:pPr>
              <a:spcAft>
                <a:spcPts val="800"/>
              </a:spcAft>
              <a:defRPr sz="1100">
                <a:solidFill>
                  <a:srgbClr val="E8ECE6"/>
                </a:solidFill>
              </a:defRPr>
            </a:pPr>
            <a:r>
              <a:t>•  zionmarketresearch.com — Cloud Kitchen Market Size, Share, Growth and Forecast, 2032 (Blog / article)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