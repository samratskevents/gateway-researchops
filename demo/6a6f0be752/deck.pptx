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F36B"/>
                </a:solidFill>
              </a:defRPr>
            </a:pPr>
            <a:r>
              <a:t>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ECE6"/>
                </a:solidFill>
              </a:defRPr>
            </a:pPr>
            <a:r>
              <a:t>Should we launch an electric scooter subscription service in Bengaluru?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65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AA59E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CE6"/>
                </a:solidFill>
              </a:defRPr>
            </a:pPr>
            <a:r>
              <a:t>•  Verdict: leaning favourable (uncertain) — 51% favourable (range 25%–78%)</a:t>
            </a:r>
          </a:p>
          <a:p>
            <a:pPr>
              <a:spcAft>
                <a:spcPts val="800"/>
              </a:spcAft>
              <a:defRPr sz="1500">
                <a:solidFill>
                  <a:srgbClr val="E8ECE6"/>
                </a:solidFill>
              </a:defRPr>
            </a:pPr>
            <a:r>
              <a:t>•  Q: I'll assume you want to pilot the scooter subscription in 2‑3 Bengaluru zones within the next 6 months, and y…  →  yes</a:t>
            </a:r>
          </a:p>
          <a:p>
            <a:pPr>
              <a:spcAft>
                <a:spcPts val="800"/>
              </a:spcAft>
              <a:defRPr sz="1500">
                <a:solidFill>
                  <a:srgbClr val="E8ECE6"/>
                </a:solidFill>
              </a:defRPr>
            </a:pPr>
            <a:r>
              <a:t>•  Q: I'll assume your primary target customers are daily commuters aged 18‑35 who already use two‑wheelers, and yo…  →  yes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F36B"/>
                </a:solidFill>
              </a:defRPr>
            </a:pPr>
            <a:r>
              <a:t>HOW THE RESEARCH 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ECE6"/>
                </a:solidFill>
              </a:defRPr>
            </a:pPr>
            <a:r>
              <a:t>Process, sources and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65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AA59E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CE6"/>
                </a:solidFill>
              </a:defRPr>
            </a:pPr>
            <a:r>
              <a:t>•  20 research tasks across specialists: competitor, customer, market, regulation</a:t>
            </a:r>
          </a:p>
          <a:p>
            <a:pPr>
              <a:spcAft>
                <a:spcPts val="800"/>
              </a:spcAft>
              <a:defRPr sz="1500">
                <a:solidFill>
                  <a:srgbClr val="E8ECE6"/>
                </a:solidFill>
              </a:defRPr>
            </a:pPr>
            <a:r>
              <a:t>•  31 sources registered, 20 useful documents from 17 domains</a:t>
            </a:r>
          </a:p>
          <a:p>
            <a:pPr>
              <a:spcAft>
                <a:spcPts val="800"/>
              </a:spcAft>
              <a:defRPr sz="1500">
                <a:solidFill>
                  <a:srgbClr val="E8ECE6"/>
                </a:solidFill>
              </a:defRPr>
            </a:pPr>
            <a:r>
              <a:t>•  604 claims extracted; 591 independent clusters after removing copies</a:t>
            </a:r>
          </a:p>
          <a:p>
            <a:pPr>
              <a:spcAft>
                <a:spcPts val="800"/>
              </a:spcAft>
              <a:defRPr sz="1500">
                <a:solidFill>
                  <a:srgbClr val="E8ECE6"/>
                </a:solidFill>
              </a:defRPr>
            </a:pPr>
            <a:r>
              <a:t>•  32 evidence labels weighed against 6 hypotheses</a:t>
            </a:r>
          </a:p>
          <a:p>
            <a:pPr>
              <a:spcAft>
                <a:spcPts val="800"/>
              </a:spcAft>
              <a:defRPr sz="1500">
                <a:solidFill>
                  <a:srgbClr val="E8ECE6"/>
                </a:solidFill>
              </a:defRPr>
            </a:pPr>
            <a:r>
              <a:t>•  8 claims challenged and re-researched; 1 court hearings</a:t>
            </a:r>
          </a:p>
          <a:p>
            <a:pPr>
              <a:spcAft>
                <a:spcPts val="800"/>
              </a:spcAft>
              <a:defRPr sz="1500">
                <a:solidFill>
                  <a:srgbClr val="E8ECE6"/>
                </a:solidFill>
              </a:defRPr>
            </a:pPr>
            <a:r>
              <a:t>•  LLM tokens used: 81543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F36B"/>
                </a:solidFill>
              </a:defRPr>
            </a:pPr>
            <a:r>
              <a:t>HYPOTHESES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ECE6"/>
                </a:solidFill>
              </a:defRPr>
            </a:pPr>
            <a:r>
              <a:t>What had to be true — and how likely it is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65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AA59E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8A7A"/>
                </a:solidFill>
              </a:defRPr>
            </a:pPr>
            <a:r>
              <a:t>•  h1  38%  —  At least 8% of daily commuters aged 18‑35 in the target zones are willing to pay a monthly subscription fee of INR 2,50…  (▲1 / ▼1)</a:t>
            </a:r>
          </a:p>
          <a:p>
            <a:pPr>
              <a:spcAft>
                <a:spcPts val="800"/>
              </a:spcAft>
              <a:defRPr sz="1500">
                <a:solidFill>
                  <a:srgbClr val="F2B86B"/>
                </a:solidFill>
              </a:defRPr>
            </a:pPr>
            <a:r>
              <a:t>•  h2  55%  —  The average monthly operating cost per scooter (maintenance, charging, insurance, parking) can be kept below INR 1,500.  (▲5 / ▼2)</a:t>
            </a:r>
          </a:p>
          <a:p>
            <a:pPr>
              <a:spcAft>
                <a:spcPts val="800"/>
              </a:spcAft>
              <a:defRPr sz="1500">
                <a:solidFill>
                  <a:srgbClr val="F2B86B"/>
                </a:solidFill>
              </a:defRPr>
            </a:pPr>
            <a:r>
              <a:t>•  h3  59%  —  Regulatory approval for a subscription‑based electric scooter service can be obtained within 3 months without requiring…  (▲7 / ▼3)</a:t>
            </a:r>
          </a:p>
          <a:p>
            <a:pPr>
              <a:spcAft>
                <a:spcPts val="800"/>
              </a:spcAft>
              <a:defRPr sz="1500">
                <a:solidFill>
                  <a:srgbClr val="F2B86B"/>
                </a:solidFill>
              </a:defRPr>
            </a:pPr>
            <a:r>
              <a:t>•  h4  47%  —  Competitor micromobility services (e.g., bike‑share, e‑scooter rentals) have a combined market share below 15% in the s…  (▲2 / ▼4)</a:t>
            </a:r>
          </a:p>
          <a:p>
            <a:pPr>
              <a:spcAft>
                <a:spcPts val="800"/>
              </a:spcAft>
              <a:defRPr sz="1500">
                <a:solidFill>
                  <a:srgbClr val="6FD39A"/>
                </a:solidFill>
              </a:defRPr>
            </a:pPr>
            <a:r>
              <a:t>•  h5  68%  —  Customers prefer a fixed monthly fee over per‑trip charges for electric scooter usage.  (▲7 / ▼0)</a:t>
            </a:r>
          </a:p>
          <a:p>
            <a:pPr>
              <a:spcAft>
                <a:spcPts val="800"/>
              </a:spcAft>
              <a:defRPr sz="1500">
                <a:solidFill>
                  <a:srgbClr val="F2B86B"/>
                </a:solidFill>
              </a:defRPr>
            </a:pPr>
            <a:r>
              <a:t>•  h6  45%  —  The average churn rate for the first six months will be under 20% once the service is launched.  (▲0 / ▼0)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F36B"/>
                </a:solidFill>
              </a:defRPr>
            </a:pPr>
            <a:r>
              <a:t>STRONGEST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ECE6"/>
                </a:solidFill>
              </a:defRPr>
            </a:pPr>
            <a:r>
              <a:t>Verbatim claims the verdict leans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65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AA59E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8A7A"/>
                </a:solidFill>
              </a:defRPr>
            </a:pPr>
            <a:r>
              <a:t>•  “Scooter sharing firms, though, face a tough challenge expanding to cities beyond Bengaluru.” — weforum.org (opposes h3)</a:t>
            </a:r>
          </a:p>
          <a:p>
            <a:pPr>
              <a:spcAft>
                <a:spcPts val="800"/>
              </a:spcAft>
              <a:defRPr sz="1300">
                <a:solidFill>
                  <a:srgbClr val="FF8A7A"/>
                </a:solidFill>
              </a:defRPr>
            </a:pPr>
            <a:r>
              <a:t>•  ““We have 35% market share right now and once we cross 50% or have a significant lead over a significant time, that’s when SoftBan…” — kr-asia.com (opposes h4)</a:t>
            </a:r>
          </a:p>
          <a:p>
            <a:pPr>
              <a:spcAft>
                <a:spcPts val="800"/>
              </a:spcAft>
              <a:defRPr sz="1300">
                <a:solidFill>
                  <a:srgbClr val="FF8A7A"/>
                </a:solidFill>
              </a:defRPr>
            </a:pPr>
            <a:r>
              <a:t>•  “'s most significant cost centre was battery charging, wherein expenses rose 3.8X.” — yourstory.com (opposes h2)</a:t>
            </a:r>
          </a:p>
          <a:p>
            <a:pPr>
              <a:spcAft>
                <a:spcPts val="800"/>
              </a:spcAft>
              <a:defRPr sz="1300">
                <a:solidFill>
                  <a:srgbClr val="FF8A7A"/>
                </a:solidFill>
              </a:defRPr>
            </a:pPr>
            <a:r>
              <a:t>•  “Bengaluru’s popular two-wheeler rental startup, Bounce, is set to introduce its first electric scooter later this month, with del…” — zigwheels.com (opposes h3)</a:t>
            </a:r>
          </a:p>
          <a:p>
            <a:pPr>
              <a:spcAft>
                <a:spcPts val="800"/>
              </a:spcAft>
              <a:defRPr sz="1300">
                <a:solidFill>
                  <a:srgbClr val="FF8A7A"/>
                </a:solidFill>
              </a:defRPr>
            </a:pPr>
            <a:r>
              <a:t>•  “A day after BJP leader and Bengaluru South MP Tejasvi Surya requested the removal of a ‘ban’ on carpooling, Karnataka Transport M…” — indianexpress.com (opposes h3)</a:t>
            </a:r>
          </a:p>
          <a:p>
            <a:pPr>
              <a:spcAft>
                <a:spcPts val="800"/>
              </a:spcAft>
              <a:defRPr sz="1300">
                <a:solidFill>
                  <a:srgbClr val="6FD39A"/>
                </a:solidFill>
              </a:defRPr>
            </a:pPr>
            <a:r>
              <a:t>•  “Monthly electric scooter rentals are gaining popularity due to:” — 24fbr.gnanasamruddhi.in (supports h5)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F36B"/>
                </a:solidFill>
              </a:defRPr>
            </a:pPr>
            <a:r>
              <a:t>CHALLENGE &amp;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ECE6"/>
                </a:solidFill>
              </a:defRPr>
            </a:pPr>
            <a:r>
              <a:t>What survived independent re-research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65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AA59E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2B86B"/>
                </a:solidFill>
              </a:defRPr>
            </a:pPr>
            <a:r>
              <a:t>•  INSUFFICIENT_EVIDENCE: Monthly electric scooter rentals are gaining popularity due to: — nothing in 3 follow-up page(s) bears on the claim</a:t>
            </a:r>
          </a:p>
          <a:p>
            <a:pPr>
              <a:spcAft>
                <a:spcPts val="800"/>
              </a:spcAft>
              <a:defRPr sz="1300">
                <a:solidFill>
                  <a:srgbClr val="F2B86B"/>
                </a:solidFill>
              </a:defRPr>
            </a:pPr>
            <a:r>
              <a:t>•  INSUFFICIENT_EVIDENCE: In contrast, renting a bike monthly can be significantly cheaper, with all-inclusive pricing coveri… — nothing in 3 follow-up page(s) bears on the claim</a:t>
            </a:r>
          </a:p>
          <a:p>
            <a:pPr>
              <a:spcAft>
                <a:spcPts val="800"/>
              </a:spcAft>
              <a:defRPr sz="1300">
                <a:solidFill>
                  <a:srgbClr val="F2B86B"/>
                </a:solidFill>
              </a:defRPr>
            </a:pPr>
            <a:r>
              <a:t>•  INSUFFICIENT_EVIDENCE: In this comprehensive guide, we will explore everything you need to know about monthly bike rental … — nothing in 3 follow-up page(s) bears on the claim</a:t>
            </a:r>
          </a:p>
          <a:p>
            <a:pPr>
              <a:spcAft>
                <a:spcPts val="800"/>
              </a:spcAft>
              <a:defRPr sz="1300">
                <a:solidFill>
                  <a:srgbClr val="F2B86B"/>
                </a:solidFill>
              </a:defRPr>
            </a:pPr>
            <a:r>
              <a:t>•  INSUFFICIENT_EVIDENCE: Full insurance, helmet, and free maintenance included. — nothing in 3 follow-up page(s) bears on the claim</a:t>
            </a:r>
          </a:p>
          <a:p>
            <a:pPr>
              <a:spcAft>
                <a:spcPts val="800"/>
              </a:spcAft>
              <a:defRPr sz="1300">
                <a:solidFill>
                  <a:srgbClr val="F2B86B"/>
                </a:solidFill>
              </a:defRPr>
            </a:pPr>
            <a:r>
              <a:t>•  PARTIALLY_SUPPORTED: Offers Bounce Infinity electric scooters on long-term rent with subscription models. — related evidence found but not decisive (support 1%, contradiction 45…</a:t>
            </a:r>
          </a:p>
          <a:p>
            <a:pPr>
              <a:spcAft>
                <a:spcPts val="800"/>
              </a:spcAft>
              <a:defRPr sz="1300">
                <a:solidFill>
                  <a:srgbClr val="F2B86B"/>
                </a:solidFill>
              </a:defRPr>
            </a:pPr>
            <a:r>
              <a:t>•  INSUFFICIENT_EVIDENCE: Monthly plans starting from ₹3,000/month (depending on the model). — no follow-up sentence was about the same subject</a:t>
            </a:r>
          </a:p>
          <a:p>
            <a:pPr>
              <a:spcAft>
                <a:spcPts val="800"/>
              </a:spcAft>
              <a:defRPr sz="1300">
                <a:solidFill>
                  <a:srgbClr val="F2B86B"/>
                </a:solidFill>
              </a:defRPr>
            </a:pPr>
            <a:r>
              <a:t>•  INSUFFICIENT_EVIDENCE: Owning a bike involves a substantial upfront cost and recurring expenses such as insurance, mainten… — nothing in 3 follow-up page(s) bears on the claim</a:t>
            </a:r>
          </a:p>
          <a:p>
            <a:pPr>
              <a:spcAft>
                <a:spcPts val="800"/>
              </a:spcAft>
              <a:defRPr sz="1300">
                <a:solidFill>
                  <a:srgbClr val="F2B86B"/>
                </a:solidFill>
              </a:defRPr>
            </a:pPr>
            <a:r>
              <a:t>•  INSUFFICIENT_EVIDENCE: “The unit economics and maintenance benefits of switching to electric are very encouraging, and we … — nothing in 3 follow-up page(s) bears on the claim</a:t>
            </a:r>
          </a:p>
          <a:p>
            <a:pPr>
              <a:spcAft>
                <a:spcPts val="800"/>
              </a:spcAft>
              <a:defRPr sz="1300">
                <a:solidFill>
                  <a:srgbClr val="F2B86B"/>
                </a:solidFill>
              </a:defRPr>
            </a:pPr>
            <a:r>
              <a:t>•  Conflict: fleet/users of Drivezy: [30.0, 15.0]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F36B"/>
                </a:solidFill>
              </a:defRPr>
            </a:pPr>
            <a:r>
              <a:t>EVIDENCE COURT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ECE6"/>
                </a:solidFill>
              </a:defRPr>
            </a:pPr>
            <a:r>
              <a:t>Per-claim hearings and rulings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65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AA59E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2B86B"/>
                </a:solidFill>
              </a:defRPr>
            </a:pPr>
            <a:r>
              <a:t>•  QUALIFIED: Last year, Bengaluru-based Vogo raised USD 100 million from Ola to add 100,000 scooters t… — Exhibit c384 alone confirms the claim, but no independent evidence corroborates the $100 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F36B"/>
                </a:solidFill>
              </a:defRPr>
            </a:pPr>
            <a:r>
              <a:t>RED-TEAM AUTOPSY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ECE6"/>
                </a:solidFill>
              </a:defRPr>
            </a:pPr>
            <a:r>
              <a:t>Survival: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65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AA59E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8A7A"/>
                </a:solidFill>
              </a:defRPr>
            </a:pPr>
            <a:r>
              <a:t>•  CRITICAL · Assumption Auditor: Unverified assumption can flip the verdict: Daily commuters aged 18‑35 own or have easy access to a smartphon…</a:t>
            </a:r>
          </a:p>
          <a:p>
            <a:pPr>
              <a:spcAft>
                <a:spcPts val="800"/>
              </a:spcAft>
              <a:defRPr sz="1300">
                <a:solidFill>
                  <a:srgbClr val="FF8A7A"/>
                </a:solidFill>
              </a:defRPr>
            </a:pPr>
            <a:r>
              <a:t>•  CRITICAL · Assumption Auditor: Unverified assumption can flip the verdict: Local traffic authorities will treat subscription‑based scooters …</a:t>
            </a:r>
          </a:p>
          <a:p>
            <a:pPr>
              <a:spcAft>
                <a:spcPts val="800"/>
              </a:spcAft>
              <a:defRPr sz="1300">
                <a:solidFill>
                  <a:srgbClr val="FF8A7A"/>
                </a:solidFill>
              </a:defRPr>
            </a:pPr>
            <a:r>
              <a:t>•  CRITICAL · Logic Auditor: Assuming lower operating costs despite battery cost spike</a:t>
            </a:r>
          </a:p>
          <a:p>
            <a:pPr>
              <a:spcAft>
                <a:spcPts val="800"/>
              </a:spcAft>
              <a:defRPr sz="1300">
                <a:solidFill>
                  <a:srgbClr val="FF8A7A"/>
                </a:solidFill>
              </a:defRPr>
            </a:pPr>
            <a:r>
              <a:t>•  HIGH · Evidence Auditor: 16 struck and 13 partial of 42 cited statements</a:t>
            </a:r>
          </a:p>
          <a:p>
            <a:pPr>
              <a:spcAft>
                <a:spcPts val="800"/>
              </a:spcAft>
              <a:defRPr sz="1300">
                <a:solidFill>
                  <a:srgbClr val="FF8A7A"/>
                </a:solidFill>
              </a:defRPr>
            </a:pPr>
            <a:r>
              <a:t>•  HIGH · Logic Auditor: Conflicting market share evidence leads to unjustified revenue projection</a:t>
            </a:r>
          </a:p>
          <a:p>
            <a:pPr>
              <a:spcAft>
                <a:spcPts val="800"/>
              </a:spcAft>
              <a:defRPr sz="1300">
                <a:solidFill>
                  <a:srgbClr val="FF8A7A"/>
                </a:solidFill>
              </a:defRPr>
            </a:pPr>
            <a:r>
              <a:t>•  HIGH · Methodology Auditor: Absence of primary demand validation and comparison groups</a:t>
            </a:r>
          </a:p>
          <a:p>
            <a:pPr>
              <a:spcAft>
                <a:spcPts val="800"/>
              </a:spcAft>
              <a:defRPr sz="1300">
                <a:solidFill>
                  <a:srgbClr val="F2B86B"/>
                </a:solidFill>
              </a:defRPr>
            </a:pPr>
            <a:r>
              <a:t>•  MEDIUM · Temporal Auditor: 21 cited claim(s) are stale for their kind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F36B"/>
                </a:solidFill>
              </a:defRPr>
            </a:pPr>
            <a: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ECE6"/>
                </a:solidFill>
              </a:defRPr>
            </a:pPr>
            <a:r>
              <a:t>Per customer per month, from cited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65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AA59E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8ECE6"/>
                </a:solidFill>
              </a:defRPr>
            </a:pPr>
            <a:r>
              <a:t>•  price: 2500 INR (range 2400–3000) — evidence [c213, c218]</a:t>
            </a:r>
          </a:p>
          <a:p>
            <a:pPr>
              <a:spcAft>
                <a:spcPts val="800"/>
              </a:spcAft>
              <a:defRPr sz="1300">
                <a:solidFill>
                  <a:srgbClr val="E8ECE6"/>
                </a:solidFill>
              </a:defRPr>
            </a:pPr>
            <a:r>
              <a:t>•  variable cost: 58 INR (range 40–80) — assumption</a:t>
            </a:r>
          </a:p>
          <a:p>
            <a:pPr>
              <a:spcAft>
                <a:spcPts val="800"/>
              </a:spcAft>
              <a:defRPr sz="1300">
                <a:solidFill>
                  <a:srgbClr val="E8ECE6"/>
                </a:solidFill>
              </a:defRPr>
            </a:pPr>
            <a:r>
              <a:t>•  cac: 500 INR (range 300–800) — assumption</a:t>
            </a:r>
          </a:p>
          <a:p>
            <a:pPr>
              <a:spcAft>
                <a:spcPts val="800"/>
              </a:spcAft>
              <a:defRPr sz="1300">
                <a:solidFill>
                  <a:srgbClr val="E8ECE6"/>
                </a:solidFill>
              </a:defRPr>
            </a:pPr>
            <a:r>
              <a:t>•  churn: 0.07 INR (range 0.04–0.12) — assumption</a:t>
            </a:r>
          </a:p>
          <a:p>
            <a:pPr>
              <a:spcAft>
                <a:spcPts val="800"/>
              </a:spcAft>
              <a:defRPr sz="1300">
                <a:solidFill>
                  <a:srgbClr val="E8ECE6"/>
                </a:solidFill>
              </a:defRPr>
            </a:pPr>
            <a:r>
              <a:t>•  fixed cost: 500000 INR (range 300000–800000) — assumption</a:t>
            </a:r>
          </a:p>
          <a:p>
            <a:pPr>
              <a:spcAft>
                <a:spcPts val="800"/>
              </a:spcAft>
              <a:defRPr sz="1300">
                <a:solidFill>
                  <a:srgbClr val="E8ECE6"/>
                </a:solidFill>
              </a:defRPr>
            </a:pPr>
            <a:r>
              <a:t>•  Margin 2442 · LTV 34885.7 · LTV/CAC 69.771 · payback 0.205 months</a:t>
            </a:r>
          </a:p>
          <a:p>
            <a:pPr>
              <a:spcAft>
                <a:spcPts val="800"/>
              </a:spcAft>
              <a:defRPr sz="1300">
                <a:solidFill>
                  <a:srgbClr val="E8ECE6"/>
                </a:solidFill>
              </a:defRPr>
            </a:pPr>
            <a:r>
              <a:t>•  Monte Carlo (2000 trials): P(margin&gt;0) 100% · P(LTV/CAC&gt;3) 100% · P(payback&lt;12m) 100%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F36B"/>
                </a:solidFill>
              </a:defRPr>
            </a:pPr>
            <a:r>
              <a:t>VERDICT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ECE6"/>
                </a:solidFill>
              </a:defRPr>
            </a:pPr>
            <a:r>
              <a:t>leaning favourable (uncertain) — 51%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65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AA59E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6FD39A"/>
                </a:solidFill>
              </a:defRPr>
            </a:pPr>
            <a:r>
              <a:t>•  Do: Partner with charging‑swap providers to keep operating costs at or under INR 1,500 per scooter per month.</a:t>
            </a:r>
          </a:p>
          <a:p>
            <a:pPr>
              <a:spcAft>
                <a:spcPts val="800"/>
              </a:spcAft>
              <a:defRPr sz="1300">
                <a:solidFill>
                  <a:srgbClr val="6FD39A"/>
                </a:solidFill>
              </a:defRPr>
            </a:pPr>
            <a:r>
              <a:t>•  Do: Complete standard two‑wheel registration within 30 days of vehicle delivery before launch.</a:t>
            </a:r>
          </a:p>
          <a:p>
            <a:pPr>
              <a:spcAft>
                <a:spcPts val="800"/>
              </a:spcAft>
              <a:defRPr sz="1300">
                <a:solidFill>
                  <a:srgbClr val="F2B86B"/>
                </a:solidFill>
              </a:defRPr>
            </a:pPr>
            <a:r>
              <a:t>•  Crux: Our team can set up charging stations and perform routine maintenance at a cost of ≤ INR 500 per scooter per month. (verdict without it 41%)</a:t>
            </a:r>
          </a:p>
          <a:p>
            <a:pPr>
              <a:spcAft>
                <a:spcPts val="800"/>
              </a:spcAft>
              <a:defRPr sz="1300">
                <a:solidFill>
                  <a:srgbClr val="F2B86B"/>
                </a:solidFill>
              </a:defRPr>
            </a:pPr>
            <a:r>
              <a:t>•  Crux: Daily commuters aged 18‑35 own or have easy access to a smartphone and are comfortable with digital payments. (verdict without it 43%)</a:t>
            </a:r>
          </a:p>
          <a:p>
            <a:pPr>
              <a:spcAft>
                <a:spcPts val="800"/>
              </a:spcAft>
              <a:defRPr sz="1300">
                <a:solidFill>
                  <a:srgbClr val="F2B86B"/>
                </a:solidFill>
              </a:defRPr>
            </a:pPr>
            <a:r>
              <a:t>•  Crux: Local traffic authorities will treat subscription‑based scooters the same as privately owned two‑wheelers for registrat… (verdict without it 44%)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F36B"/>
                </a:solidFill>
              </a:defRPr>
            </a:pPr>
            <a: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ECE6"/>
                </a:solidFill>
              </a:defRPr>
            </a:pPr>
            <a:r>
              <a:t>Every cited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65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AA59E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E8ECE6"/>
                </a:solidFill>
              </a:defRPr>
            </a:pPr>
            <a:r>
              <a:t>•  livemint.com — Yulu to focus on long-term rentals, add 1 lakh electric bikes by 2021 (News / business publication)</a:t>
            </a:r>
          </a:p>
          <a:p>
            <a:pPr>
              <a:spcAft>
                <a:spcPts val="800"/>
              </a:spcAft>
              <a:defRPr sz="1100">
                <a:solidFill>
                  <a:srgbClr val="E8ECE6"/>
                </a:solidFill>
              </a:defRPr>
            </a:pPr>
            <a:r>
              <a:t>•  indianexpress.com — After Tejasvi Surya asks Karnataka govt to reconsider carpooling ‘ban’, transpo… (News / business publication)</a:t>
            </a:r>
          </a:p>
          <a:p>
            <a:pPr>
              <a:spcAft>
                <a:spcPts val="800"/>
              </a:spcAft>
              <a:defRPr sz="1100">
                <a:solidFill>
                  <a:srgbClr val="E8ECE6"/>
                </a:solidFill>
              </a:defRPr>
            </a:pPr>
            <a:r>
              <a:t>•  parkplus.io — Karnataka Vehicle Registration: Process, Fees &amp;amp; Documents (Blog / article)</a:t>
            </a:r>
          </a:p>
          <a:p>
            <a:pPr>
              <a:spcAft>
                <a:spcPts val="800"/>
              </a:spcAft>
              <a:defRPr sz="1100">
                <a:solidFill>
                  <a:srgbClr val="E8ECE6"/>
                </a:solidFill>
              </a:defRPr>
            </a:pPr>
            <a:r>
              <a:t>•  24fbr.gnanasamruddhi.in — Bike Rental Bangalore Monthly (Blog / article)</a:t>
            </a:r>
          </a:p>
          <a:p>
            <a:pPr>
              <a:spcAft>
                <a:spcPts val="800"/>
              </a:spcAft>
              <a:defRPr sz="1100">
                <a:solidFill>
                  <a:srgbClr val="E8ECE6"/>
                </a:solidFill>
              </a:defRPr>
            </a:pPr>
            <a:r>
              <a:t>•  huffpost.com — Do Indians Just Hate Each Other Too Much To Share Bikes? | HuffPost Tech (Blog / article)</a:t>
            </a:r>
          </a:p>
          <a:p>
            <a:pPr>
              <a:spcAft>
                <a:spcPts val="800"/>
              </a:spcAft>
              <a:defRPr sz="1100">
                <a:solidFill>
                  <a:srgbClr val="E8ECE6"/>
                </a:solidFill>
              </a:defRPr>
            </a:pPr>
            <a:r>
              <a:t>•  kr-asia.com — Will mobility startups keep fueling EV growth despite India&amp;#x27;s fluctuating … (Blog / article)</a:t>
            </a:r>
          </a:p>
          <a:p>
            <a:pPr>
              <a:spcAft>
                <a:spcPts val="800"/>
              </a:spcAft>
              <a:defRPr sz="1100">
                <a:solidFill>
                  <a:srgbClr val="E8ECE6"/>
                </a:solidFill>
              </a:defRPr>
            </a:pPr>
            <a:r>
              <a:t>•  weforum.org — The electric scooter capital of the world | World Economic Forum (Blog / article)</a:t>
            </a:r>
          </a:p>
          <a:p>
            <a:pPr>
              <a:spcAft>
                <a:spcPts val="800"/>
              </a:spcAft>
              <a:defRPr sz="1100">
                <a:solidFill>
                  <a:srgbClr val="E8ECE6"/>
                </a:solidFill>
              </a:defRPr>
            </a:pPr>
            <a:r>
              <a:t>•  yourstory.com — Yulu&amp;#x27;s FY23 loss widens on battery charging-related costs | YourStory (News / business publication)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